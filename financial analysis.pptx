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1510F-8DCD-48D1-A4B9-901276F0C441}" v="565" dt="2026-02-01T12:21:35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S" userId="6129f0e95a6fb857" providerId="LiveId" clId="{3657D585-5B76-42AE-9F96-21E68B456DA9}"/>
    <pc:docChg chg="modSld">
      <pc:chgData name="Yogesh S" userId="6129f0e95a6fb857" providerId="LiveId" clId="{3657D585-5B76-42AE-9F96-21E68B456DA9}" dt="2026-02-02T01:17:47.839" v="22" actId="20577"/>
      <pc:docMkLst>
        <pc:docMk/>
      </pc:docMkLst>
      <pc:sldChg chg="modSp mod">
        <pc:chgData name="Yogesh S" userId="6129f0e95a6fb857" providerId="LiveId" clId="{3657D585-5B76-42AE-9F96-21E68B456DA9}" dt="2026-02-02T01:17:47.839" v="22" actId="20577"/>
        <pc:sldMkLst>
          <pc:docMk/>
          <pc:sldMk cId="313347306" sldId="269"/>
        </pc:sldMkLst>
        <pc:spChg chg="mod">
          <ac:chgData name="Yogesh S" userId="6129f0e95a6fb857" providerId="LiveId" clId="{3657D585-5B76-42AE-9F96-21E68B456DA9}" dt="2026-02-02T01:17:47.839" v="22" actId="20577"/>
          <ac:spMkLst>
            <pc:docMk/>
            <pc:sldMk cId="313347306" sldId="269"/>
            <ac:spMk id="7" creationId="{568CC66A-B54D-EB39-B43D-938F83DC5984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33A62E-5D00-497C-B15F-34676A50421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03B90B-8111-4654-9BA8-028BB5C11F45}">
      <dgm:prSet phldrT="[Text]" phldr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 dirty="0">
            <a:noFill/>
          </a:endParaRPr>
        </a:p>
      </dgm:t>
    </dgm:pt>
    <dgm:pt modelId="{022AFF7A-DD40-4120-8B1E-8347719F0938}" type="sibTrans" cxnId="{EA16BE7D-B886-4580-8CC9-89C5CCBA06D8}">
      <dgm:prSet/>
      <dgm:spPr/>
      <dgm:t>
        <a:bodyPr/>
        <a:lstStyle/>
        <a:p>
          <a:endParaRPr lang="en-US">
            <a:noFill/>
          </a:endParaRPr>
        </a:p>
      </dgm:t>
    </dgm:pt>
    <dgm:pt modelId="{426C3FEB-E7A5-4240-A2D1-F01D01ED59F3}" type="parTrans" cxnId="{EA16BE7D-B886-4580-8CC9-89C5CCBA06D8}">
      <dgm:prSet/>
      <dgm:spPr/>
      <dgm:t>
        <a:bodyPr/>
        <a:lstStyle/>
        <a:p>
          <a:endParaRPr lang="en-US"/>
        </a:p>
      </dgm:t>
    </dgm:pt>
    <dgm:pt modelId="{3464127D-4373-47BB-80BD-3B981AC8134F}">
      <dgm:prSet/>
      <dgm:spPr>
        <a:blipFill rotWithShape="0">
          <a:blip xmlns:r="http://schemas.openxmlformats.org/officeDocument/2006/relationships" r:embed="rId2"/>
          <a:stretch>
            <a:fillRect/>
          </a:stretch>
        </a:blipFill>
        <a:effectLst>
          <a:outerShdw blurRad="50800" dist="38100" dir="5400000" algn="t" rotWithShape="0">
            <a:prstClr val="black">
              <a:alpha val="43000"/>
            </a:prstClr>
          </a:outerShdw>
        </a:effectLst>
      </dgm:spPr>
      <dgm:t>
        <a:bodyPr/>
        <a:lstStyle/>
        <a:p>
          <a:endParaRPr lang="en-US"/>
        </a:p>
      </dgm:t>
    </dgm:pt>
    <dgm:pt modelId="{9C5CCEBC-6835-4923-BABC-EAA71D250504}" type="parTrans" cxnId="{B50B9E20-FE9F-4478-9C33-3412C737A217}">
      <dgm:prSet/>
      <dgm:spPr/>
      <dgm:t>
        <a:bodyPr/>
        <a:lstStyle/>
        <a:p>
          <a:endParaRPr lang="en-US"/>
        </a:p>
      </dgm:t>
    </dgm:pt>
    <dgm:pt modelId="{02EDCE08-EAFB-4513-A404-67D14AAAB1AD}" type="sibTrans" cxnId="{B50B9E20-FE9F-4478-9C33-3412C737A217}">
      <dgm:prSet/>
      <dgm:spPr/>
      <dgm:t>
        <a:bodyPr/>
        <a:lstStyle/>
        <a:p>
          <a:endParaRPr lang="en-US"/>
        </a:p>
      </dgm:t>
    </dgm:pt>
    <dgm:pt modelId="{64659E5A-45FF-440E-82E3-49C9715D98EB}">
      <dgm:prSet/>
      <dgm:spPr>
        <a:effectLst>
          <a:outerShdw blurRad="50800" dist="38100" dir="5400000" algn="t" rotWithShape="0">
            <a:prstClr val="black">
              <a:alpha val="43000"/>
            </a:prstClr>
          </a:outerShdw>
        </a:effectLst>
      </dgm:spPr>
      <dgm:t>
        <a:bodyPr/>
        <a:lstStyle/>
        <a:p>
          <a:endParaRPr lang="en-US"/>
        </a:p>
      </dgm:t>
    </dgm:pt>
    <dgm:pt modelId="{BAC1F3C7-7715-4123-A6B4-B75F2CA80C6D}" type="parTrans" cxnId="{F671838B-1F17-4E00-964C-E19B607C3030}">
      <dgm:prSet/>
      <dgm:spPr/>
      <dgm:t>
        <a:bodyPr/>
        <a:lstStyle/>
        <a:p>
          <a:endParaRPr lang="en-US"/>
        </a:p>
      </dgm:t>
    </dgm:pt>
    <dgm:pt modelId="{B186FF42-ED11-483A-9C87-ECF8A0E15777}" type="sibTrans" cxnId="{F671838B-1F17-4E00-964C-E19B607C3030}">
      <dgm:prSet/>
      <dgm:spPr/>
      <dgm:t>
        <a:bodyPr/>
        <a:lstStyle/>
        <a:p>
          <a:endParaRPr lang="en-US"/>
        </a:p>
      </dgm:t>
    </dgm:pt>
    <dgm:pt modelId="{AEC0D5BF-771C-4DC0-8731-924A4F2325E7}">
      <dgm:prSet/>
      <dgm:spPr>
        <a:blipFill dpi="0" rotWithShape="0">
          <a:blip xmlns:r="http://schemas.openxmlformats.org/officeDocument/2006/relationships" r:embed="rId3"/>
          <a:srcRect/>
          <a:stretch>
            <a:fillRect l="-2977" t="-2977" r="-2977" b="-2977"/>
          </a:stretch>
        </a:blipFill>
      </dgm:spPr>
      <dgm:t>
        <a:bodyPr/>
        <a:lstStyle/>
        <a:p>
          <a:endParaRPr lang="en-US"/>
        </a:p>
      </dgm:t>
    </dgm:pt>
    <dgm:pt modelId="{3F3F0E1E-98D9-4650-A7B6-B5552482920E}" type="parTrans" cxnId="{6B159CC1-F4B3-4A78-AA61-3C044C01B39B}">
      <dgm:prSet/>
      <dgm:spPr/>
      <dgm:t>
        <a:bodyPr/>
        <a:lstStyle/>
        <a:p>
          <a:endParaRPr lang="en-US"/>
        </a:p>
      </dgm:t>
    </dgm:pt>
    <dgm:pt modelId="{B56E4809-852C-40CA-A913-E8CB9191F589}" type="sibTrans" cxnId="{6B159CC1-F4B3-4A78-AA61-3C044C01B39B}">
      <dgm:prSet/>
      <dgm:spPr/>
      <dgm:t>
        <a:bodyPr/>
        <a:lstStyle/>
        <a:p>
          <a:endParaRPr lang="en-US"/>
        </a:p>
      </dgm:t>
    </dgm:pt>
    <dgm:pt modelId="{CE5162EF-F7BA-4190-8073-9142FB2EFA88}">
      <dgm:prSet/>
      <dgm:spPr>
        <a:blipFill dpi="0" rotWithShape="0">
          <a:blip xmlns:r="http://schemas.openxmlformats.org/officeDocument/2006/relationships" r:embed="rId4"/>
          <a:srcRect/>
          <a:stretch>
            <a:fillRect l="-2977" t="-5920" r="-2977" b="-5920"/>
          </a:stretch>
        </a:blipFill>
      </dgm:spPr>
      <dgm:t>
        <a:bodyPr/>
        <a:lstStyle/>
        <a:p>
          <a:endParaRPr lang="en-US"/>
        </a:p>
      </dgm:t>
    </dgm:pt>
    <dgm:pt modelId="{279B5A2F-41F4-4311-AD2D-15AC008A50A4}" type="parTrans" cxnId="{58812832-8F3C-48C2-90A7-CD812A9847FE}">
      <dgm:prSet/>
      <dgm:spPr/>
      <dgm:t>
        <a:bodyPr/>
        <a:lstStyle/>
        <a:p>
          <a:endParaRPr lang="en-US"/>
        </a:p>
      </dgm:t>
    </dgm:pt>
    <dgm:pt modelId="{411DFBB5-865F-41A3-A6F3-14BCA5A8B4C4}" type="sibTrans" cxnId="{58812832-8F3C-48C2-90A7-CD812A9847FE}">
      <dgm:prSet/>
      <dgm:spPr/>
      <dgm:t>
        <a:bodyPr/>
        <a:lstStyle/>
        <a:p>
          <a:endParaRPr lang="en-US"/>
        </a:p>
      </dgm:t>
    </dgm:pt>
    <dgm:pt modelId="{09A2BECB-8297-40C1-B6B1-9F30D676CF77}">
      <dgm:prSet/>
      <dgm:spPr>
        <a:blipFill dpi="0" rotWithShape="0">
          <a:blip xmlns:r="http://schemas.openxmlformats.org/officeDocument/2006/relationships" r:embed="rId5"/>
          <a:srcRect/>
          <a:stretch>
            <a:fillRect l="-6509" t="-2977" r="-6509" b="-2977"/>
          </a:stretch>
        </a:blipFill>
      </dgm:spPr>
      <dgm:t>
        <a:bodyPr/>
        <a:lstStyle/>
        <a:p>
          <a:endParaRPr lang="en-US"/>
        </a:p>
      </dgm:t>
    </dgm:pt>
    <dgm:pt modelId="{4F35CDF4-624B-4CD4-95A0-4C61091D55A3}" type="parTrans" cxnId="{FA361949-05BF-4364-8293-3DD1320C8C8C}">
      <dgm:prSet/>
      <dgm:spPr/>
      <dgm:t>
        <a:bodyPr/>
        <a:lstStyle/>
        <a:p>
          <a:endParaRPr lang="en-US"/>
        </a:p>
      </dgm:t>
    </dgm:pt>
    <dgm:pt modelId="{5D33B80F-519C-407D-891D-8DCB48DC5C2E}" type="sibTrans" cxnId="{FA361949-05BF-4364-8293-3DD1320C8C8C}">
      <dgm:prSet/>
      <dgm:spPr/>
      <dgm:t>
        <a:bodyPr/>
        <a:lstStyle/>
        <a:p>
          <a:endParaRPr lang="en-US"/>
        </a:p>
      </dgm:t>
    </dgm:pt>
    <dgm:pt modelId="{A409312D-2DF8-477D-99D7-F7D11A3B16C0}" type="pres">
      <dgm:prSet presAssocID="{F333A62E-5D00-497C-B15F-34676A50421E}" presName="diagram" presStyleCnt="0">
        <dgm:presLayoutVars>
          <dgm:dir/>
          <dgm:resizeHandles val="exact"/>
        </dgm:presLayoutVars>
      </dgm:prSet>
      <dgm:spPr/>
    </dgm:pt>
    <dgm:pt modelId="{B0B63C03-3B10-46DA-B5A1-437DE53F7D11}" type="pres">
      <dgm:prSet presAssocID="{2003B90B-8111-4654-9BA8-028BB5C11F45}" presName="node" presStyleLbl="node1" presStyleIdx="0" presStyleCnt="5">
        <dgm:presLayoutVars>
          <dgm:bulletEnabled val="1"/>
        </dgm:presLayoutVars>
      </dgm:prSet>
      <dgm:spPr/>
    </dgm:pt>
    <dgm:pt modelId="{C95A9687-4195-4E77-9C49-203EEA65D25D}" type="pres">
      <dgm:prSet presAssocID="{022AFF7A-DD40-4120-8B1E-8347719F0938}" presName="sibTrans" presStyleCnt="0"/>
      <dgm:spPr/>
    </dgm:pt>
    <dgm:pt modelId="{A84C49C0-8088-4537-8931-D3711B77CA15}" type="pres">
      <dgm:prSet presAssocID="{3464127D-4373-47BB-80BD-3B981AC8134F}" presName="node" presStyleLbl="node1" presStyleIdx="1" presStyleCnt="5">
        <dgm:presLayoutVars>
          <dgm:bulletEnabled val="1"/>
        </dgm:presLayoutVars>
      </dgm:prSet>
      <dgm:spPr/>
    </dgm:pt>
    <dgm:pt modelId="{176A39E4-D4C2-4F33-A6D1-81E72E967012}" type="pres">
      <dgm:prSet presAssocID="{02EDCE08-EAFB-4513-A404-67D14AAAB1AD}" presName="sibTrans" presStyleCnt="0"/>
      <dgm:spPr/>
    </dgm:pt>
    <dgm:pt modelId="{2CEC8A31-FE98-421D-B569-537789D8A9A5}" type="pres">
      <dgm:prSet presAssocID="{AEC0D5BF-771C-4DC0-8731-924A4F2325E7}" presName="node" presStyleLbl="node1" presStyleIdx="2" presStyleCnt="5" custLinFactNeighborX="-2720" custLinFactNeighborY="-6910">
        <dgm:presLayoutVars>
          <dgm:bulletEnabled val="1"/>
        </dgm:presLayoutVars>
      </dgm:prSet>
      <dgm:spPr/>
    </dgm:pt>
    <dgm:pt modelId="{12E6A116-0A2E-4A24-A6CA-3CD6F5AF4B3C}" type="pres">
      <dgm:prSet presAssocID="{B56E4809-852C-40CA-A913-E8CB9191F589}" presName="sibTrans" presStyleCnt="0"/>
      <dgm:spPr/>
    </dgm:pt>
    <dgm:pt modelId="{40F460F8-A04C-49F9-8A4B-82EB4E42A627}" type="pres">
      <dgm:prSet presAssocID="{CE5162EF-F7BA-4190-8073-9142FB2EFA88}" presName="node" presStyleLbl="node1" presStyleIdx="3" presStyleCnt="5" custLinFactNeighborX="-4295" custLinFactNeighborY="-6910">
        <dgm:presLayoutVars>
          <dgm:bulletEnabled val="1"/>
        </dgm:presLayoutVars>
      </dgm:prSet>
      <dgm:spPr/>
    </dgm:pt>
    <dgm:pt modelId="{033609F2-63D3-49DC-885E-4F5C56D7119D}" type="pres">
      <dgm:prSet presAssocID="{411DFBB5-865F-41A3-A6F3-14BCA5A8B4C4}" presName="sibTrans" presStyleCnt="0"/>
      <dgm:spPr/>
    </dgm:pt>
    <dgm:pt modelId="{BFF99808-39FC-4073-9529-3428867C0349}" type="pres">
      <dgm:prSet presAssocID="{09A2BECB-8297-40C1-B6B1-9F30D676CF77}" presName="node" presStyleLbl="node1" presStyleIdx="4" presStyleCnt="5">
        <dgm:presLayoutVars>
          <dgm:bulletEnabled val="1"/>
        </dgm:presLayoutVars>
      </dgm:prSet>
      <dgm:spPr/>
    </dgm:pt>
  </dgm:ptLst>
  <dgm:cxnLst>
    <dgm:cxn modelId="{969ADD02-3FE3-41A3-8861-E8D3B5FC36B8}" type="presOf" srcId="{09A2BECB-8297-40C1-B6B1-9F30D676CF77}" destId="{BFF99808-39FC-4073-9529-3428867C0349}" srcOrd="0" destOrd="0" presId="urn:microsoft.com/office/officeart/2005/8/layout/default"/>
    <dgm:cxn modelId="{31FB0B0A-42DD-4696-BE2A-E6B3E4DF1EEC}" type="presOf" srcId="{64659E5A-45FF-440E-82E3-49C9715D98EB}" destId="{A84C49C0-8088-4537-8931-D3711B77CA15}" srcOrd="0" destOrd="1" presId="urn:microsoft.com/office/officeart/2005/8/layout/default"/>
    <dgm:cxn modelId="{B25F0C1A-E668-43AD-86B6-919054A30D4C}" type="presOf" srcId="{3464127D-4373-47BB-80BD-3B981AC8134F}" destId="{A84C49C0-8088-4537-8931-D3711B77CA15}" srcOrd="0" destOrd="0" presId="urn:microsoft.com/office/officeart/2005/8/layout/default"/>
    <dgm:cxn modelId="{B50B9E20-FE9F-4478-9C33-3412C737A217}" srcId="{F333A62E-5D00-497C-B15F-34676A50421E}" destId="{3464127D-4373-47BB-80BD-3B981AC8134F}" srcOrd="1" destOrd="0" parTransId="{9C5CCEBC-6835-4923-BABC-EAA71D250504}" sibTransId="{02EDCE08-EAFB-4513-A404-67D14AAAB1AD}"/>
    <dgm:cxn modelId="{58812832-8F3C-48C2-90A7-CD812A9847FE}" srcId="{F333A62E-5D00-497C-B15F-34676A50421E}" destId="{CE5162EF-F7BA-4190-8073-9142FB2EFA88}" srcOrd="3" destOrd="0" parTransId="{279B5A2F-41F4-4311-AD2D-15AC008A50A4}" sibTransId="{411DFBB5-865F-41A3-A6F3-14BCA5A8B4C4}"/>
    <dgm:cxn modelId="{4E570C3F-FC84-49CE-991E-186C3C1F2E1D}" type="presOf" srcId="{2003B90B-8111-4654-9BA8-028BB5C11F45}" destId="{B0B63C03-3B10-46DA-B5A1-437DE53F7D11}" srcOrd="0" destOrd="0" presId="urn:microsoft.com/office/officeart/2005/8/layout/default"/>
    <dgm:cxn modelId="{FA361949-05BF-4364-8293-3DD1320C8C8C}" srcId="{F333A62E-5D00-497C-B15F-34676A50421E}" destId="{09A2BECB-8297-40C1-B6B1-9F30D676CF77}" srcOrd="4" destOrd="0" parTransId="{4F35CDF4-624B-4CD4-95A0-4C61091D55A3}" sibTransId="{5D33B80F-519C-407D-891D-8DCB48DC5C2E}"/>
    <dgm:cxn modelId="{0427F76C-7630-41DB-9F81-9B1284F069E2}" type="presOf" srcId="{F333A62E-5D00-497C-B15F-34676A50421E}" destId="{A409312D-2DF8-477D-99D7-F7D11A3B16C0}" srcOrd="0" destOrd="0" presId="urn:microsoft.com/office/officeart/2005/8/layout/default"/>
    <dgm:cxn modelId="{EA16BE7D-B886-4580-8CC9-89C5CCBA06D8}" srcId="{F333A62E-5D00-497C-B15F-34676A50421E}" destId="{2003B90B-8111-4654-9BA8-028BB5C11F45}" srcOrd="0" destOrd="0" parTransId="{426C3FEB-E7A5-4240-A2D1-F01D01ED59F3}" sibTransId="{022AFF7A-DD40-4120-8B1E-8347719F0938}"/>
    <dgm:cxn modelId="{F671838B-1F17-4E00-964C-E19B607C3030}" srcId="{3464127D-4373-47BB-80BD-3B981AC8134F}" destId="{64659E5A-45FF-440E-82E3-49C9715D98EB}" srcOrd="0" destOrd="0" parTransId="{BAC1F3C7-7715-4123-A6B4-B75F2CA80C6D}" sibTransId="{B186FF42-ED11-483A-9C87-ECF8A0E15777}"/>
    <dgm:cxn modelId="{A9387DA0-FD04-4002-AADA-EFC520E5E966}" type="presOf" srcId="{AEC0D5BF-771C-4DC0-8731-924A4F2325E7}" destId="{2CEC8A31-FE98-421D-B569-537789D8A9A5}" srcOrd="0" destOrd="0" presId="urn:microsoft.com/office/officeart/2005/8/layout/default"/>
    <dgm:cxn modelId="{40828EB0-0D31-4FEA-87FE-D5A63EF31691}" type="presOf" srcId="{CE5162EF-F7BA-4190-8073-9142FB2EFA88}" destId="{40F460F8-A04C-49F9-8A4B-82EB4E42A627}" srcOrd="0" destOrd="0" presId="urn:microsoft.com/office/officeart/2005/8/layout/default"/>
    <dgm:cxn modelId="{6B159CC1-F4B3-4A78-AA61-3C044C01B39B}" srcId="{F333A62E-5D00-497C-B15F-34676A50421E}" destId="{AEC0D5BF-771C-4DC0-8731-924A4F2325E7}" srcOrd="2" destOrd="0" parTransId="{3F3F0E1E-98D9-4650-A7B6-B5552482920E}" sibTransId="{B56E4809-852C-40CA-A913-E8CB9191F589}"/>
    <dgm:cxn modelId="{97A63B18-9D32-4071-8BD0-ED276063A2C7}" type="presParOf" srcId="{A409312D-2DF8-477D-99D7-F7D11A3B16C0}" destId="{B0B63C03-3B10-46DA-B5A1-437DE53F7D11}" srcOrd="0" destOrd="0" presId="urn:microsoft.com/office/officeart/2005/8/layout/default"/>
    <dgm:cxn modelId="{A9608301-D2F8-440F-A329-23A6145EF209}" type="presParOf" srcId="{A409312D-2DF8-477D-99D7-F7D11A3B16C0}" destId="{C95A9687-4195-4E77-9C49-203EEA65D25D}" srcOrd="1" destOrd="0" presId="urn:microsoft.com/office/officeart/2005/8/layout/default"/>
    <dgm:cxn modelId="{0D264669-BD5A-4F67-874A-26C103FCE3F8}" type="presParOf" srcId="{A409312D-2DF8-477D-99D7-F7D11A3B16C0}" destId="{A84C49C0-8088-4537-8931-D3711B77CA15}" srcOrd="2" destOrd="0" presId="urn:microsoft.com/office/officeart/2005/8/layout/default"/>
    <dgm:cxn modelId="{28844E1B-D919-4DD6-8EFF-F83075C45779}" type="presParOf" srcId="{A409312D-2DF8-477D-99D7-F7D11A3B16C0}" destId="{176A39E4-D4C2-4F33-A6D1-81E72E967012}" srcOrd="3" destOrd="0" presId="urn:microsoft.com/office/officeart/2005/8/layout/default"/>
    <dgm:cxn modelId="{3FB4640E-C10E-4C19-BEE4-50A89C7BFC65}" type="presParOf" srcId="{A409312D-2DF8-477D-99D7-F7D11A3B16C0}" destId="{2CEC8A31-FE98-421D-B569-537789D8A9A5}" srcOrd="4" destOrd="0" presId="urn:microsoft.com/office/officeart/2005/8/layout/default"/>
    <dgm:cxn modelId="{B18F242E-A15E-4AE1-BD94-EA3FF208E6E6}" type="presParOf" srcId="{A409312D-2DF8-477D-99D7-F7D11A3B16C0}" destId="{12E6A116-0A2E-4A24-A6CA-3CD6F5AF4B3C}" srcOrd="5" destOrd="0" presId="urn:microsoft.com/office/officeart/2005/8/layout/default"/>
    <dgm:cxn modelId="{FC024263-6E9F-4BDE-97DE-9511E03549A8}" type="presParOf" srcId="{A409312D-2DF8-477D-99D7-F7D11A3B16C0}" destId="{40F460F8-A04C-49F9-8A4B-82EB4E42A627}" srcOrd="6" destOrd="0" presId="urn:microsoft.com/office/officeart/2005/8/layout/default"/>
    <dgm:cxn modelId="{1EB62743-C117-40DD-ACB4-6692DA28CD78}" type="presParOf" srcId="{A409312D-2DF8-477D-99D7-F7D11A3B16C0}" destId="{033609F2-63D3-49DC-885E-4F5C56D7119D}" srcOrd="7" destOrd="0" presId="urn:microsoft.com/office/officeart/2005/8/layout/default"/>
    <dgm:cxn modelId="{117BB303-A72E-4DD7-A70A-6F70D0CA159E}" type="presParOf" srcId="{A409312D-2DF8-477D-99D7-F7D11A3B16C0}" destId="{BFF99808-39FC-4073-9529-3428867C034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63C03-3B10-46DA-B5A1-437DE53F7D11}">
      <dsp:nvSpPr>
        <dsp:cNvPr id="0" name=""/>
        <dsp:cNvSpPr/>
      </dsp:nvSpPr>
      <dsp:spPr>
        <a:xfrm>
          <a:off x="655" y="61901"/>
          <a:ext cx="2554529" cy="153271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 dirty="0">
            <a:noFill/>
          </a:endParaRPr>
        </a:p>
      </dsp:txBody>
      <dsp:txXfrm>
        <a:off x="655" y="61901"/>
        <a:ext cx="2554529" cy="1532717"/>
      </dsp:txXfrm>
    </dsp:sp>
    <dsp:sp modelId="{A84C49C0-8088-4537-8931-D3711B77CA15}">
      <dsp:nvSpPr>
        <dsp:cNvPr id="0" name=""/>
        <dsp:cNvSpPr/>
      </dsp:nvSpPr>
      <dsp:spPr>
        <a:xfrm>
          <a:off x="2810636" y="61901"/>
          <a:ext cx="2554529" cy="1532717"/>
        </a:xfrm>
        <a:prstGeom prst="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algn="t" rotWithShape="0">
            <a:prstClr val="black">
              <a:alpha val="43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100" kern="1200"/>
        </a:p>
      </dsp:txBody>
      <dsp:txXfrm>
        <a:off x="2810636" y="61901"/>
        <a:ext cx="2554529" cy="1532717"/>
      </dsp:txXfrm>
    </dsp:sp>
    <dsp:sp modelId="{2CEC8A31-FE98-421D-B569-537789D8A9A5}">
      <dsp:nvSpPr>
        <dsp:cNvPr id="0" name=""/>
        <dsp:cNvSpPr/>
      </dsp:nvSpPr>
      <dsp:spPr>
        <a:xfrm>
          <a:off x="0" y="1744161"/>
          <a:ext cx="2554529" cy="1532717"/>
        </a:xfrm>
        <a:prstGeom prst="rect">
          <a:avLst/>
        </a:prstGeom>
        <a:blipFill dpi="0" rotWithShape="0">
          <a:blip xmlns:r="http://schemas.openxmlformats.org/officeDocument/2006/relationships" r:embed="rId3"/>
          <a:srcRect/>
          <a:stretch>
            <a:fillRect l="-2977" t="-2977" r="-2977" b="-2977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</dsp:txBody>
      <dsp:txXfrm>
        <a:off x="0" y="1744161"/>
        <a:ext cx="2554529" cy="1532717"/>
      </dsp:txXfrm>
    </dsp:sp>
    <dsp:sp modelId="{40F460F8-A04C-49F9-8A4B-82EB4E42A627}">
      <dsp:nvSpPr>
        <dsp:cNvPr id="0" name=""/>
        <dsp:cNvSpPr/>
      </dsp:nvSpPr>
      <dsp:spPr>
        <a:xfrm>
          <a:off x="2700919" y="1744161"/>
          <a:ext cx="2554529" cy="1532717"/>
        </a:xfrm>
        <a:prstGeom prst="rect">
          <a:avLst/>
        </a:prstGeom>
        <a:blipFill dpi="0" rotWithShape="0">
          <a:blip xmlns:r="http://schemas.openxmlformats.org/officeDocument/2006/relationships" r:embed="rId4"/>
          <a:srcRect/>
          <a:stretch>
            <a:fillRect l="-2977" t="-5920" r="-2977" b="-592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</dsp:txBody>
      <dsp:txXfrm>
        <a:off x="2700919" y="1744161"/>
        <a:ext cx="2554529" cy="1532717"/>
      </dsp:txXfrm>
    </dsp:sp>
    <dsp:sp modelId="{BFF99808-39FC-4073-9529-3428867C0349}">
      <dsp:nvSpPr>
        <dsp:cNvPr id="0" name=""/>
        <dsp:cNvSpPr/>
      </dsp:nvSpPr>
      <dsp:spPr>
        <a:xfrm>
          <a:off x="1405645" y="3638242"/>
          <a:ext cx="2554529" cy="1532717"/>
        </a:xfrm>
        <a:prstGeom prst="rect">
          <a:avLst/>
        </a:prstGeom>
        <a:blipFill dpi="0" rotWithShape="0">
          <a:blip xmlns:r="http://schemas.openxmlformats.org/officeDocument/2006/relationships" r:embed="rId5"/>
          <a:srcRect/>
          <a:stretch>
            <a:fillRect l="-6509" t="-2977" r="-6509" b="-2977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</dsp:txBody>
      <dsp:txXfrm>
        <a:off x="1405645" y="3638242"/>
        <a:ext cx="2554529" cy="1532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91253A-EBC9-DA92-BF3B-E436E42431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CA7759-2622-FA7D-C84E-50A0ADE26F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821A6-21D1-493F-ADD4-65876B16B82A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483B6-339E-CB38-B77B-D710341296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E5BFE-CD42-B2D8-EB72-755A11046D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5278B-649B-40F2-AE92-56CD25A7D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622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BE231-2EE1-4DE0-AC74-A270862F6970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2"/>
            <a:ext cx="5486400" cy="36004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7182F-F6A7-4A97-8DA4-CDDB1D81B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6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41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90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90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39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17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87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40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29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81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13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26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48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8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02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33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4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229850F-B2CB-4939-929A-F76B387F4C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EE1E00-BE1D-46A3-8409-4BC59B23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88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uponscorpion.com/finance-accounting/python-financial-analyst-financial-analysis-zero-to-advance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6C10-DE3F-6636-F81B-E66179621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569" y="1907457"/>
            <a:ext cx="10215715" cy="1700979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</a:rPr>
              <a:t>Financial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4D2F23-80EA-5458-E617-90D373DF0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879" y="6178090"/>
            <a:ext cx="3283974" cy="439020"/>
          </a:xfrm>
        </p:spPr>
        <p:txBody>
          <a:bodyPr/>
          <a:lstStyle/>
          <a:p>
            <a:r>
              <a:rPr lang="en-US"/>
              <a:t>Presented By Yogesh 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51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FCCA-D4F4-6312-92DB-798A37C4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08" y="137651"/>
            <a:ext cx="10131425" cy="1456267"/>
          </a:xfrm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CC66A-B54D-EB39-B43D-938F83DC5984}"/>
              </a:ext>
            </a:extLst>
          </p:cNvPr>
          <p:cNvSpPr txBox="1"/>
          <p:nvPr/>
        </p:nvSpPr>
        <p:spPr>
          <a:xfrm>
            <a:off x="498988" y="1201682"/>
            <a:ext cx="609600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KPI Summary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Revenue &amp; Cost Trend Over Time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Profit Trend Analysis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Cost Distribution by Type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Total Transaction Amount by Transaction Type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Revenue by Transaction Type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Attrition Rate by Card Category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Customers by Age Group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Credit Limit vs Avg Utilization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Attrition Rate by Relationship Count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ANALYST RECOMMENDATIONS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47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8D2E5FC-479C-6450-E292-58486D237D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761446"/>
              </p:ext>
            </p:extLst>
          </p:nvPr>
        </p:nvGraphicFramePr>
        <p:xfrm>
          <a:off x="251208" y="1068984"/>
          <a:ext cx="5365821" cy="5232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4D1D5BD-8F41-68EE-75E2-F7BA5540B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068984"/>
            <a:ext cx="5551769" cy="502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₹2.1M indicating overall business scale.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Cost: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₹264.6K, relatively controlled against revenue.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₹1.83M showing strong profitability.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~12K active customers.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Rate: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17.44%, a key risk area to monitor.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5B409-54BB-9EAD-A0A2-76DB827AAAD5}"/>
              </a:ext>
            </a:extLst>
          </p:cNvPr>
          <p:cNvSpPr txBox="1"/>
          <p:nvPr/>
        </p:nvSpPr>
        <p:spPr>
          <a:xfrm>
            <a:off x="3048000" y="3293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KPI Summary</a:t>
            </a:r>
          </a:p>
        </p:txBody>
      </p:sp>
    </p:spTree>
    <p:extLst>
      <p:ext uri="{BB962C8B-B14F-4D97-AF65-F5344CB8AC3E}">
        <p14:creationId xmlns:p14="http://schemas.microsoft.com/office/powerpoint/2010/main" val="2330239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044DD7-6EF4-008F-D1F2-52A3A8C5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63" y="1020602"/>
            <a:ext cx="5475901" cy="518090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40000"/>
              </a:prstClr>
            </a:outerShdw>
            <a:softEdge rad="139700"/>
          </a:effectLst>
          <a:scene3d>
            <a:camera prst="perspectiveFront"/>
            <a:lightRig rig="threePt" dir="t"/>
          </a:scene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9E4395-919A-F854-992C-B7231F76832F}"/>
              </a:ext>
            </a:extLst>
          </p:cNvPr>
          <p:cNvSpPr txBox="1"/>
          <p:nvPr/>
        </p:nvSpPr>
        <p:spPr>
          <a:xfrm>
            <a:off x="6096000" y="1195471"/>
            <a:ext cx="5772201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shows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downward trend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2018-Q4 to 2019-Q3.</a:t>
            </a:r>
          </a:p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Costs remain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relatively stable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quarters.</a:t>
            </a:r>
          </a:p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between revenue and cost is narrowing →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 pressure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possible demand decline or reduced transaction volume.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5CD26-0139-A459-E927-FEB4A5714D7C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Revenue &amp; Cost Trend Over Time</a:t>
            </a:r>
          </a:p>
        </p:txBody>
      </p:sp>
    </p:spTree>
    <p:extLst>
      <p:ext uri="{BB962C8B-B14F-4D97-AF65-F5344CB8AC3E}">
        <p14:creationId xmlns:p14="http://schemas.microsoft.com/office/powerpoint/2010/main" val="3297200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03342E-417D-3F25-3F2D-5C563181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0" y="1216762"/>
            <a:ext cx="4984955" cy="497756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4651A47-85BE-0BF2-B6A1-D6AD9FAB9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535" y="1749012"/>
            <a:ext cx="5279923" cy="3913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has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steadily declined over 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profit observed in early periods, followed by continuous drop.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Decline aligns with falling revenue rather than rising costs.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Signals need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revitalization strategies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A3E07-02E2-FED7-2D50-16158A13D754}"/>
              </a:ext>
            </a:extLst>
          </p:cNvPr>
          <p:cNvSpPr txBox="1"/>
          <p:nvPr/>
        </p:nvSpPr>
        <p:spPr>
          <a:xfrm>
            <a:off x="3048000" y="14045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Profit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2645522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BC59C6-9935-6394-4CE0-538EB30A7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03" y="1061884"/>
            <a:ext cx="4843361" cy="4857135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  <a:softEdge rad="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C13725-85D7-2479-D71A-C70AD92BF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051" y="1562742"/>
            <a:ext cx="5447071" cy="4005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 (32%)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largest cost component.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(25%)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Marketing (24%)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 a major share.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costs (18%)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comparatively lower.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structure is people and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heavy.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DA302-FF01-1A62-56C9-3D75FB9BA3BA}"/>
              </a:ext>
            </a:extLst>
          </p:cNvPr>
          <p:cNvSpPr txBox="1"/>
          <p:nvPr/>
        </p:nvSpPr>
        <p:spPr>
          <a:xfrm>
            <a:off x="2930012" y="1398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Cost Distribution by Type</a:t>
            </a:r>
          </a:p>
        </p:txBody>
      </p:sp>
    </p:spTree>
    <p:extLst>
      <p:ext uri="{BB962C8B-B14F-4D97-AF65-F5344CB8AC3E}">
        <p14:creationId xmlns:p14="http://schemas.microsoft.com/office/powerpoint/2010/main" val="4181182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ADE09-E503-74AF-B495-D27E734E0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3" y="967992"/>
            <a:ext cx="4963218" cy="5763429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  <a:softEdge rad="38100"/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E636A8D-D518-2C05-292D-F178E7A05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54" y="1975056"/>
            <a:ext cx="5624052" cy="254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Customers prefer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merchant-based transactions (Fuel, Shop, Eat)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over cash withdrawals.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Fuel and Shop categories are critical revenue drivers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likely due to frequent and recurring usage.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Lower contribution from cash suggests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shift toward digital payments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which are typically more profitable.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3123E8-97BB-1158-5E02-9355435E7ECC}"/>
              </a:ext>
            </a:extLst>
          </p:cNvPr>
          <p:cNvSpPr txBox="1"/>
          <p:nvPr/>
        </p:nvSpPr>
        <p:spPr>
          <a:xfrm>
            <a:off x="2182761" y="0"/>
            <a:ext cx="78264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Total Transaction Amount by Transaction Type</a:t>
            </a:r>
          </a:p>
        </p:txBody>
      </p:sp>
    </p:spTree>
    <p:extLst>
      <p:ext uri="{BB962C8B-B14F-4D97-AF65-F5344CB8AC3E}">
        <p14:creationId xmlns:p14="http://schemas.microsoft.com/office/powerpoint/2010/main" val="1476953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B90BCC-A8AE-64DB-AD3A-B394ECFC8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49" y="727193"/>
            <a:ext cx="4639322" cy="563958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  <a:softEdge rad="381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F3F5D9-F9F6-9A71-E744-6D4C0885E52A}"/>
              </a:ext>
            </a:extLst>
          </p:cNvPr>
          <p:cNvSpPr txBox="1"/>
          <p:nvPr/>
        </p:nvSpPr>
        <p:spPr>
          <a:xfrm>
            <a:off x="5692878" y="1472470"/>
            <a:ext cx="609600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SHOP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contributes the highest revenue.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strong secondary contributors.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transactions generate the lowest revenue.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Digital/merchant-based transactions outperform cash usage.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F74B3-B94D-F7F5-16BC-243C4135F5D0}"/>
              </a:ext>
            </a:extLst>
          </p:cNvPr>
          <p:cNvSpPr txBox="1"/>
          <p:nvPr/>
        </p:nvSpPr>
        <p:spPr>
          <a:xfrm>
            <a:off x="3362633" y="9832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dirty="0">
                <a:latin typeface="Algerian" panose="04020705040A02060702" pitchFamily="82" charset="0"/>
              </a:rPr>
              <a:t>Revenue by Transaction Type</a:t>
            </a:r>
          </a:p>
        </p:txBody>
      </p:sp>
    </p:spTree>
    <p:extLst>
      <p:ext uri="{BB962C8B-B14F-4D97-AF65-F5344CB8AC3E}">
        <p14:creationId xmlns:p14="http://schemas.microsoft.com/office/powerpoint/2010/main" val="343872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36A440-DBD8-9071-5207-52EB04B8D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65" y="945086"/>
            <a:ext cx="5150035" cy="551843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  <a:softEdge rad="38100"/>
          </a:effec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65D1D8E-EB7A-65B3-A101-6B84FA5E8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561" y="1660562"/>
            <a:ext cx="515003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Entry-level customers (Blue)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price-sensitive and less loyal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customers (Gold) likely receive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benefits and engagement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reducing churn.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 category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predictor of customer retention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AD05A-8A7C-CD54-0087-438CB124FE24}"/>
              </a:ext>
            </a:extLst>
          </p:cNvPr>
          <p:cNvSpPr txBox="1"/>
          <p:nvPr/>
        </p:nvSpPr>
        <p:spPr>
          <a:xfrm>
            <a:off x="3176853" y="70973"/>
            <a:ext cx="6537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Attrition Rate by Card Category</a:t>
            </a:r>
          </a:p>
        </p:txBody>
      </p:sp>
    </p:spTree>
    <p:extLst>
      <p:ext uri="{BB962C8B-B14F-4D97-AF65-F5344CB8AC3E}">
        <p14:creationId xmlns:p14="http://schemas.microsoft.com/office/powerpoint/2010/main" val="612077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39B4E-F229-E67D-5A34-2792EF385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9" y="1311618"/>
            <a:ext cx="5079556" cy="446705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  <a:softEdge rad="38100"/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EF25EE6-5189-D64A-ABBF-F78CC396D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7510" y="1195471"/>
            <a:ext cx="5368412" cy="446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card holders (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dominate the customer base.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Silver (&gt;32%)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second largest segment.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 &amp; Platinum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together form a smaller premium segment.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dependency on entry-level customers.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CF5D0-609A-1618-25EF-2AD42C38C479}"/>
              </a:ext>
            </a:extLst>
          </p:cNvPr>
          <p:cNvSpPr txBox="1"/>
          <p:nvPr/>
        </p:nvSpPr>
        <p:spPr>
          <a:xfrm>
            <a:off x="2959510" y="8080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Customers by Age Group</a:t>
            </a:r>
          </a:p>
        </p:txBody>
      </p:sp>
    </p:spTree>
    <p:extLst>
      <p:ext uri="{BB962C8B-B14F-4D97-AF65-F5344CB8AC3E}">
        <p14:creationId xmlns:p14="http://schemas.microsoft.com/office/powerpoint/2010/main" val="2900895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716B63-2E94-6487-2DBF-22D9E2FAE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21" y="937223"/>
            <a:ext cx="6002409" cy="5403285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  <a:softEdge rad="3810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C4B4A6A-6E3D-7EEA-60A9-A99A70163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845" y="1652822"/>
            <a:ext cx="5345723" cy="335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Majority of customers fall in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40–55 age range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Fewer younger (&lt;30) and older (&gt;60) customers.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mid-age, financially stable customer base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BA5B9-B5D6-1116-7374-0575C32CEFA5}"/>
              </a:ext>
            </a:extLst>
          </p:cNvPr>
          <p:cNvSpPr txBox="1"/>
          <p:nvPr/>
        </p:nvSpPr>
        <p:spPr>
          <a:xfrm>
            <a:off x="2890684" y="808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Credit Limit vs Avg Utilization</a:t>
            </a:r>
          </a:p>
        </p:txBody>
      </p:sp>
    </p:spTree>
    <p:extLst>
      <p:ext uri="{BB962C8B-B14F-4D97-AF65-F5344CB8AC3E}">
        <p14:creationId xmlns:p14="http://schemas.microsoft.com/office/powerpoint/2010/main" val="2998626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1E10A0-8AF3-2D0B-C087-A4D8757F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55" y="918472"/>
            <a:ext cx="5707745" cy="5671269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  <a:softEdge rad="38100"/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04B26E-B0D7-C918-68C2-D2817530B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273" y="918472"/>
            <a:ext cx="5070744" cy="502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 relationship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credit limit and utilization.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utilization mostly seen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credit limit customers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 are more concentrated 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utilization levels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utilization may signal financial stress → attrition risk.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CD141-95EF-28A1-8AE9-8111A4066DBE}"/>
              </a:ext>
            </a:extLst>
          </p:cNvPr>
          <p:cNvSpPr txBox="1"/>
          <p:nvPr/>
        </p:nvSpPr>
        <p:spPr>
          <a:xfrm>
            <a:off x="3114728" y="7501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Credit Limit vs Avg Utilization</a:t>
            </a:r>
          </a:p>
        </p:txBody>
      </p:sp>
    </p:spTree>
    <p:extLst>
      <p:ext uri="{BB962C8B-B14F-4D97-AF65-F5344CB8AC3E}">
        <p14:creationId xmlns:p14="http://schemas.microsoft.com/office/powerpoint/2010/main" val="3922694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DDC8C3-FFD4-89F8-8228-CB1BB31A6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47" y="1624545"/>
            <a:ext cx="5379717" cy="4576549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  <a:softEdge rad="38100"/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2BB8B08-6315-0882-7546-69C430F75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37" y="1751177"/>
            <a:ext cx="5265336" cy="446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attrition seen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1–2 relationship counts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decreases as relationship count increases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5–6 relationships are more loyal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depth strongly impacts retention.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6C908-04A8-FCC3-50E7-63C56FC6F1A9}"/>
              </a:ext>
            </a:extLst>
          </p:cNvPr>
          <p:cNvSpPr txBox="1"/>
          <p:nvPr/>
        </p:nvSpPr>
        <p:spPr>
          <a:xfrm>
            <a:off x="2821858" y="100469"/>
            <a:ext cx="70202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</a:rPr>
              <a:t>Attrition Rate by Relationship Count</a:t>
            </a:r>
          </a:p>
        </p:txBody>
      </p:sp>
    </p:spTree>
    <p:extLst>
      <p:ext uri="{BB962C8B-B14F-4D97-AF65-F5344CB8AC3E}">
        <p14:creationId xmlns:p14="http://schemas.microsoft.com/office/powerpoint/2010/main" val="4114077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D2CBC903-8B94-7349-EFD4-644924E0C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82" y="570971"/>
            <a:ext cx="10756489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b="1" dirty="0"/>
              <a:t>Reduce Attrition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Target customers with </a:t>
            </a:r>
            <a:r>
              <a:rPr lang="en-US" altLang="en-US" sz="1600" b="1" dirty="0"/>
              <a:t>1–2 relationships</a:t>
            </a:r>
            <a:r>
              <a:rPr lang="en-US" altLang="en-US" sz="1600" dirty="0"/>
              <a:t> using cross-sell offers.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Introduce loyalty benefits for early-stage customers.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Monitor high-utilization customers for proactive retention.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b="1" dirty="0"/>
              <a:t>Improve Revenue Trend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Boost </a:t>
            </a:r>
            <a:r>
              <a:rPr lang="en-US" altLang="en-US" sz="1600" b="1" dirty="0"/>
              <a:t>SHOP and FUEL</a:t>
            </a:r>
            <a:r>
              <a:rPr lang="en-US" altLang="en-US" sz="1600" dirty="0"/>
              <a:t> transaction campaigns.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Introduce merchant partnerships and cashback programs.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Promote digital payments over cash transactions.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/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b="1" dirty="0"/>
              <a:t>Optimize Cost Structure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Review </a:t>
            </a:r>
            <a:r>
              <a:rPr lang="en-US" altLang="en-US" sz="1600" b="1" dirty="0"/>
              <a:t>salary and service costs</a:t>
            </a:r>
            <a:r>
              <a:rPr lang="en-US" altLang="en-US" sz="1600" dirty="0"/>
              <a:t> for efficiency improvements.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Increase ROI tracking on marketing spend.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Automate processes to reduce operational overhead.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b="1" dirty="0"/>
              <a:t>Grow High-Value Segment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Upsell </a:t>
            </a:r>
            <a:r>
              <a:rPr lang="en-US" altLang="en-US" sz="1600" b="1" dirty="0"/>
              <a:t>Blue → Silver/Gold</a:t>
            </a:r>
            <a:r>
              <a:rPr lang="en-US" altLang="en-US" sz="1600" dirty="0"/>
              <a:t> customers with tailored offers.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Develop premium benefits to grow Platinum customer base.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Focus on customers aged </a:t>
            </a:r>
            <a:r>
              <a:rPr lang="en-US" altLang="en-US" sz="1600" b="1" dirty="0"/>
              <a:t>40–55</a:t>
            </a:r>
            <a:r>
              <a:rPr lang="en-US" altLang="en-US" sz="1600" dirty="0"/>
              <a:t> with long-term financial products.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/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b="1" dirty="0"/>
              <a:t>Credit Risk Management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Set alerts for </a:t>
            </a:r>
            <a:r>
              <a:rPr lang="en-US" altLang="en-US" sz="1600" b="1" dirty="0"/>
              <a:t>high utilization ratios</a:t>
            </a:r>
            <a:r>
              <a:rPr lang="en-US" altLang="en-US" sz="1600" dirty="0"/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Offer structured repayment plans or credit limit reviews.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Use utilization patterns as an early warning signal for churn.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3544CA-D588-0BB5-61FA-6B6032328114}"/>
              </a:ext>
            </a:extLst>
          </p:cNvPr>
          <p:cNvSpPr txBox="1"/>
          <p:nvPr/>
        </p:nvSpPr>
        <p:spPr>
          <a:xfrm>
            <a:off x="3254477" y="1093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ANALYST RECOMMENDATIONS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AD40D5-381E-C15E-507D-C3ACE789A41E}"/>
              </a:ext>
            </a:extLst>
          </p:cNvPr>
          <p:cNvCxnSpPr/>
          <p:nvPr/>
        </p:nvCxnSpPr>
        <p:spPr>
          <a:xfrm>
            <a:off x="0" y="57097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168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181</TotalTime>
  <Words>660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Algerian</vt:lpstr>
      <vt:lpstr>Aptos</vt:lpstr>
      <vt:lpstr>Arial</vt:lpstr>
      <vt:lpstr>Calibri</vt:lpstr>
      <vt:lpstr>Calibri Light</vt:lpstr>
      <vt:lpstr>Courier New</vt:lpstr>
      <vt:lpstr>Wingdings</vt:lpstr>
      <vt:lpstr>Celestial</vt:lpstr>
      <vt:lpstr>Financial Analysis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S</dc:creator>
  <cp:lastModifiedBy>Yogesh S</cp:lastModifiedBy>
  <cp:revision>2</cp:revision>
  <dcterms:created xsi:type="dcterms:W3CDTF">2026-01-31T23:02:01Z</dcterms:created>
  <dcterms:modified xsi:type="dcterms:W3CDTF">2026-02-02T01:17:54Z</dcterms:modified>
</cp:coreProperties>
</file>